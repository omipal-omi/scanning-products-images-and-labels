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 Medium" panose="020B0604020202020204" charset="0"/>
      <p:regular r:id="rId9"/>
      <p:bold r:id="rId10"/>
      <p:italic r:id="rId11"/>
      <p:boldItalic r:id="rId12"/>
    </p:embeddedFon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Garamond" panose="02020404030301010803" pitchFamily="18" charset="0"/>
      <p:regular r:id="rId17"/>
      <p:bold r:id="rId18"/>
      <p:italic r:id="rId19"/>
    </p:embeddedFont>
    <p:embeddedFont>
      <p:font typeface="Poppins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9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schemas.openxmlformats.org/officeDocument/2006/relationships/tableStyles" Target="tableStyles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53094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7067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0290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0733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7384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0249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5377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3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12" Type="http://schemas.openxmlformats.org/officeDocument/2006/relationships/image" Target="../media/image52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1.png"/><Relationship Id="rId5" Type="http://schemas.openxmlformats.org/officeDocument/2006/relationships/image" Target="../media/image47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.png"/><Relationship Id="rId9" Type="http://schemas.openxmlformats.org/officeDocument/2006/relationships/image" Target="../media/image36.png"/><Relationship Id="rId1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4">
            <a:extLst>
              <a:ext uri="{FF2B5EF4-FFF2-40B4-BE49-F238E27FC236}">
                <a16:creationId xmlns=""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6">
            <a:extLst>
              <a:ext uri="{FF2B5EF4-FFF2-40B4-BE49-F238E27FC236}">
                <a16:creationId xmlns=""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24" name="Subtitle 3"/>
          <p:cNvSpPr txBox="1">
            <a:spLocks/>
          </p:cNvSpPr>
          <p:nvPr/>
        </p:nvSpPr>
        <p:spPr>
          <a:xfrm>
            <a:off x="1245686" y="648614"/>
            <a:ext cx="8534400" cy="1752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7"/>
          <p:cNvSpPr txBox="1">
            <a:spLocks/>
          </p:cNvSpPr>
          <p:nvPr/>
        </p:nvSpPr>
        <p:spPr>
          <a:xfrm>
            <a:off x="331286" y="-526757"/>
            <a:ext cx="10363200" cy="20764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b="1" smtClean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7473" y="502840"/>
            <a:ext cx="1125294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SIH26034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Title-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System to check compliance of packaged commodities under legal Metrology(Packaged Commodities) Rules, 2011 by scanning products, images and labels.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Agriculture,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FoodTech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Rural Development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6486525"/>
            <a:ext cx="11239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5750" y="1023106"/>
            <a:ext cx="5476875" cy="1627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5750" y="2741329"/>
            <a:ext cx="5476875" cy="1935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7306" y="4742913"/>
            <a:ext cx="5476875" cy="1935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2037159"/>
            <a:ext cx="5476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4638100" y="341225"/>
            <a:ext cx="7553899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PROPOSED SOLUTION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476250" y="7715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72612" y="352425"/>
            <a:ext cx="22431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476250" y="6572250"/>
            <a:ext cx="2943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@SIH Idea submission - Template | </a:t>
            </a:r>
            <a:r>
              <a:rPr lang="en-US" sz="900" b="1" i="0" u="none" strike="noStrike" cap="none" dirty="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[Your Team Name]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11106150" y="6572250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 of 6</a:t>
            </a:r>
            <a:endParaRPr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5325" y="12287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695325" y="1724025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Detailed Solution Overview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34616" y="1917751"/>
            <a:ext cx="5038725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interactive, multi-tenant portal with modular </a:t>
            </a:r>
            <a:r>
              <a:rPr lang="en-US" sz="1087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microservices</a:t>
            </a:r>
            <a:r>
              <a:rPr lang="en-US" sz="1087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backend, seamless client dashboard, dynamic forms, and automated validation rules to digitize complete operational workflows.</a:t>
            </a:r>
            <a:endParaRPr dirty="0"/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6172" y="301423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553520" y="3509532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Addressing Core Bottlenecks</a:t>
            </a:r>
            <a:endParaRPr dirty="0"/>
          </a:p>
        </p:txBody>
      </p:sp>
      <p:sp>
        <p:nvSpPr>
          <p:cNvPr id="123" name="Google Shape;123;p14"/>
          <p:cNvSpPr txBox="1"/>
          <p:nvPr/>
        </p:nvSpPr>
        <p:spPr>
          <a:xfrm>
            <a:off x="596172" y="3745562"/>
            <a:ext cx="5038725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slow manual data processing, fragmented excel tracking, and paper reliance by introducing single-click record processing, automated status updates, and central database syncing.</a:t>
            </a:r>
            <a:endParaRPr dirty="0"/>
          </a:p>
        </p:txBody>
      </p:sp>
      <p:pic>
        <p:nvPicPr>
          <p:cNvPr id="124" name="Google Shape;124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5787" y="491013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596172" y="5338163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Innovation &amp; Uniqueness</a:t>
            </a:r>
            <a:endParaRPr dirty="0"/>
          </a:p>
        </p:txBody>
      </p:sp>
      <p:sp>
        <p:nvSpPr>
          <p:cNvPr id="126" name="Google Shape;126;p14"/>
          <p:cNvSpPr txBox="1"/>
          <p:nvPr/>
        </p:nvSpPr>
        <p:spPr>
          <a:xfrm>
            <a:off x="603956" y="5524045"/>
            <a:ext cx="5038725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Lightweight architecture featuring offline-first data caching, smart RBAC (Role-Based Access Control), zero-dependency client UI rendering, and sub-second server query performance.</a:t>
            </a:r>
            <a:endParaRPr dirty="0"/>
          </a:p>
        </p:txBody>
      </p:sp>
      <p:pic>
        <p:nvPicPr>
          <p:cNvPr id="127" name="Google Shape;127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48400" y="2046684"/>
            <a:ext cx="54578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5812" y="133350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5325" y="311229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29050" y="5014611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0" y="6486524"/>
            <a:ext cx="12191999" cy="37147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6400" y="648652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0" name="Oval 29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18097" cy="56120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Divine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6486525"/>
            <a:ext cx="11239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857375"/>
            <a:ext cx="547687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857375"/>
            <a:ext cx="54768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5337672" y="341225"/>
            <a:ext cx="685432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APPROACH</a:t>
            </a:r>
            <a:endParaRPr dirty="0"/>
          </a:p>
        </p:txBody>
      </p:sp>
      <p:sp>
        <p:nvSpPr>
          <p:cNvPr id="140" name="Google Shape;140;p15"/>
          <p:cNvSpPr/>
          <p:nvPr/>
        </p:nvSpPr>
        <p:spPr>
          <a:xfrm>
            <a:off x="476250" y="7715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96350" y="352425"/>
            <a:ext cx="2819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476250" y="6572250"/>
            <a:ext cx="2943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@SIH Idea submission - Template | </a:t>
            </a:r>
            <a:r>
              <a:rPr lang="en-US" sz="90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[Your Team Name]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1096625" y="6572250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 of 6</a:t>
            </a:r>
            <a:endParaRPr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68635" y="11049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476250" y="1390650"/>
            <a:ext cx="215637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HTML5 / CSS3</a:t>
            </a:r>
            <a:endParaRPr/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25167" y="11049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2746920" y="1390650"/>
            <a:ext cx="215651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JavaScript ES6+</a:t>
            </a:r>
            <a:endParaRPr/>
          </a:p>
        </p:txBody>
      </p:sp>
      <p:pic>
        <p:nvPicPr>
          <p:cNvPr id="148" name="Google Shape;14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52976" y="11049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5017740" y="1390650"/>
            <a:ext cx="215637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PHP REST API</a:t>
            </a:r>
            <a:endParaRPr/>
          </a:p>
        </p:txBody>
      </p:sp>
      <p:pic>
        <p:nvPicPr>
          <p:cNvPr id="150" name="Google Shape;15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66658" y="11049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7288410" y="1390650"/>
            <a:ext cx="215651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MySQL Relational DB</a:t>
            </a:r>
            <a:endParaRPr/>
          </a:p>
        </p:txBody>
      </p:sp>
      <p:pic>
        <p:nvPicPr>
          <p:cNvPr id="152" name="Google Shape;15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94466" y="11049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9559230" y="1390650"/>
            <a:ext cx="215637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Docker Container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695325" y="2972841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Methodology &amp; Implementation Flow</a:t>
            </a:r>
            <a:endParaRPr/>
          </a:p>
        </p:txBody>
      </p:sp>
      <p:pic>
        <p:nvPicPr>
          <p:cNvPr id="155" name="Google Shape;155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48400" y="1866900"/>
            <a:ext cx="5457825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95325" y="3020466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/>
          <p:nvPr/>
        </p:nvSpPr>
        <p:spPr>
          <a:xfrm>
            <a:off x="695325" y="3420516"/>
            <a:ext cx="5038725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095375" y="3515766"/>
            <a:ext cx="4505325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Frontend Interface: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Responsive presentation layer with asynchronous fetch handling, client validation, and adaptive layout.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695325" y="3420516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95325" y="4092922"/>
            <a:ext cx="5038725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1076325" y="4188172"/>
            <a:ext cx="4524375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 Engine: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PHP RESTful API handlers managing session authentication, data sanitization, and routing logic.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695325" y="4092922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695325" y="4765327"/>
            <a:ext cx="5038725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057275" y="4860577"/>
            <a:ext cx="4543425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 layer: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MySQL DB with indexed transaction schemas, foreign-key constraints, and automated data backups.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695325" y="4765327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57250" y="353481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7250" y="420722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7250" y="487962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Oval 35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87819" y="127686"/>
            <a:ext cx="1138862" cy="6235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Divine</a:t>
            </a:r>
            <a:endParaRPr lang="en-IN" dirty="0"/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1" y="6320631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6399" y="640556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6486525"/>
            <a:ext cx="11239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981075"/>
            <a:ext cx="3619500" cy="54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0" y="981075"/>
            <a:ext cx="3619500" cy="54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0" y="981075"/>
            <a:ext cx="361950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3876674" y="341225"/>
            <a:ext cx="831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FEASIBILITY &amp; VIABILITY</a:t>
            </a:r>
            <a:endParaRPr dirty="0"/>
          </a:p>
        </p:txBody>
      </p:sp>
      <p:sp>
        <p:nvSpPr>
          <p:cNvPr id="179" name="Google Shape;179;p16"/>
          <p:cNvSpPr/>
          <p:nvPr/>
        </p:nvSpPr>
        <p:spPr>
          <a:xfrm>
            <a:off x="476250" y="7715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10687" y="352425"/>
            <a:ext cx="240506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476250" y="6572250"/>
            <a:ext cx="2943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@SIH Idea submission - Template | </a:t>
            </a:r>
            <a:r>
              <a:rPr lang="en-US" sz="90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[Your Team Name]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1096625" y="6572250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 of 6</a:t>
            </a:r>
            <a:endParaRPr/>
          </a:p>
        </p:txBody>
      </p:sp>
      <p:pic>
        <p:nvPicPr>
          <p:cNvPr id="183" name="Google Shape;18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5325" y="12287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695325" y="1724025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Feasibility</a:t>
            </a:r>
            <a:endParaRPr/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05325" y="12287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4505325" y="1724025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Potential Challenges &amp; Risks</a:t>
            </a:r>
            <a:endParaRPr/>
          </a:p>
        </p:txBody>
      </p:sp>
      <p:pic>
        <p:nvPicPr>
          <p:cNvPr id="187" name="Google Shape;18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15325" y="12287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8315325" y="1724025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Mitigation Strategies</a:t>
            </a:r>
            <a:endParaRPr/>
          </a:p>
        </p:txBody>
      </p:sp>
      <p:pic>
        <p:nvPicPr>
          <p:cNvPr id="189" name="Google Shape;189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00100" y="1333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695325" y="2133600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Built on standard open-source LAMP/LEMP server stacks with zero expensive license lock-ins.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695325" y="2729805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100% cross-device support across mobile browsers, tablets, and desktop workstations.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695325" y="3326010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Low infrastructure overhead with instant scalability on standard cloud hosting environments.</a:t>
            </a:r>
            <a:endParaRPr/>
          </a:p>
        </p:txBody>
      </p:sp>
      <p:pic>
        <p:nvPicPr>
          <p:cNvPr id="193" name="Google Shape;193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10100" y="1333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4505325" y="2133600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Security Threats: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SQL Injections, Cross-Site Scripting (XSS), and unauthorized API access.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4505325" y="2729805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Concurrency: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Server bottleneck during peak user submission hours.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4505325" y="3326010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Integrity: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Concurrent database update conflicts and session timeouts.</a:t>
            </a:r>
            <a:endParaRPr/>
          </a:p>
        </p:txBody>
      </p:sp>
      <p:pic>
        <p:nvPicPr>
          <p:cNvPr id="197" name="Google Shape;19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20100" y="1333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8315325" y="2133600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Prepared Statements: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Strict PDO parameterized query execution and CSRF token verification.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8315325" y="2729805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Load Balancing &amp; Caching: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Redis caching layer and DB connection pooling for high traffic spikes.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8315325" y="3326010"/>
            <a:ext cx="31813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Role Management: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Granular RBAC, hashed password storage, and activity audit logs.</a:t>
            </a:r>
            <a:endParaRPr/>
          </a:p>
        </p:txBody>
      </p:sp>
      <p:sp>
        <p:nvSpPr>
          <p:cNvPr id="30" name="Oval 29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87819" y="127686"/>
            <a:ext cx="1138862" cy="6235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Divine</a:t>
            </a:r>
            <a:endParaRPr lang="en-IN" dirty="0"/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1742" y="642937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6486525"/>
            <a:ext cx="11239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981075"/>
            <a:ext cx="5476875" cy="2188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340744"/>
            <a:ext cx="5476875" cy="3088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1704975"/>
            <a:ext cx="5476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3497854" y="341225"/>
            <a:ext cx="869414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IMPACT AND BENEFITS</a:t>
            </a:r>
            <a:endParaRPr dirty="0"/>
          </a:p>
        </p:txBody>
      </p:sp>
      <p:sp>
        <p:nvSpPr>
          <p:cNvPr id="211" name="Google Shape;211;p17"/>
          <p:cNvSpPr/>
          <p:nvPr/>
        </p:nvSpPr>
        <p:spPr>
          <a:xfrm>
            <a:off x="476250" y="7715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72550" y="352425"/>
            <a:ext cx="27432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 txBox="1"/>
          <p:nvPr/>
        </p:nvSpPr>
        <p:spPr>
          <a:xfrm>
            <a:off x="476250" y="6572250"/>
            <a:ext cx="2943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@SIH Idea submission - Template | </a:t>
            </a:r>
            <a:r>
              <a:rPr lang="en-US" sz="90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[Your Team Name]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1106150" y="6572250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5 of 6</a:t>
            </a:r>
            <a:endParaRPr/>
          </a:p>
        </p:txBody>
      </p:sp>
      <p:pic>
        <p:nvPicPr>
          <p:cNvPr id="215" name="Google Shape;21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5325" y="12287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695325" y="1724025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Impact on Target Audience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695325" y="2076450"/>
            <a:ext cx="5038725" cy="62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Reduces administrative processing turn-around time by over 65%, providing clear transparency to end-users and real-time dashboard analytics to organizational heads.</a:t>
            </a:r>
            <a:endParaRPr/>
          </a:p>
        </p:txBody>
      </p:sp>
      <p:pic>
        <p:nvPicPr>
          <p:cNvPr id="218" name="Google Shape;21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5325" y="3588394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695325" y="4083694"/>
            <a:ext cx="529066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Socio-Economic &amp; Environmental Benefits</a:t>
            </a:r>
            <a:endParaRPr/>
          </a:p>
        </p:txBody>
      </p:sp>
      <p:pic>
        <p:nvPicPr>
          <p:cNvPr id="220" name="Google Shape;22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48400" y="1714500"/>
            <a:ext cx="54578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6287" y="13335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00100" y="369316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695325" y="4464694"/>
            <a:ext cx="5038725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Economic Efficiency: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Eliminates recurring software licensing fees via open-source tech.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695325" y="5003750"/>
            <a:ext cx="5038725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Environmental Sustainability: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Achieves a 100% paperless record management cycle.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695325" y="5542805"/>
            <a:ext cx="5038725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Scalability: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Easily extensible for nationwide deployment with multi-language support.</a:t>
            </a:r>
            <a:endParaRPr/>
          </a:p>
        </p:txBody>
      </p:sp>
      <p:sp>
        <p:nvSpPr>
          <p:cNvPr id="23" name="Oval 22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87819" y="127686"/>
            <a:ext cx="1138862" cy="6235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Divine</a:t>
            </a:r>
            <a:endParaRPr lang="en-IN" dirty="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1" y="636098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6400" y="6438900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6486525"/>
            <a:ext cx="11239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981075"/>
            <a:ext cx="5505450" cy="54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0300" y="981075"/>
            <a:ext cx="550545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3128790" y="341225"/>
            <a:ext cx="906321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AND REFERENCES</a:t>
            </a:r>
            <a:endParaRPr dirty="0"/>
          </a:p>
        </p:txBody>
      </p:sp>
      <p:sp>
        <p:nvSpPr>
          <p:cNvPr id="235" name="Google Shape;235;p18"/>
          <p:cNvSpPr/>
          <p:nvPr/>
        </p:nvSpPr>
        <p:spPr>
          <a:xfrm>
            <a:off x="476250" y="77152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01175" y="352425"/>
            <a:ext cx="23145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476250" y="6572250"/>
            <a:ext cx="29432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@SIH Idea submission - Template | </a:t>
            </a:r>
            <a:r>
              <a:rPr lang="en-US" sz="900" b="1" i="0" u="none" strike="noStrike" cap="non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[Your Team Name]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11096625" y="6572250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6 of 6</a:t>
            </a:r>
            <a:endParaRPr/>
          </a:p>
        </p:txBody>
      </p:sp>
      <p:pic>
        <p:nvPicPr>
          <p:cNvPr id="239" name="Google Shape;23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5325" y="12287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695325" y="1724025"/>
            <a:ext cx="532066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&amp; Benchmarking Studies</a:t>
            </a:r>
            <a:endParaRPr/>
          </a:p>
        </p:txBody>
      </p:sp>
      <p:pic>
        <p:nvPicPr>
          <p:cNvPr id="241" name="Google Shape;24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12287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/>
        </p:nvSpPr>
        <p:spPr>
          <a:xfrm>
            <a:off x="6429375" y="1724025"/>
            <a:ext cx="532066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References &amp; Technical Documentation</a:t>
            </a:r>
            <a:endParaRPr/>
          </a:p>
        </p:txBody>
      </p:sp>
      <p:pic>
        <p:nvPicPr>
          <p:cNvPr id="243" name="Google Shape;24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9625" y="13335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/>
          <p:nvPr/>
        </p:nvSpPr>
        <p:spPr>
          <a:xfrm>
            <a:off x="695325" y="2076450"/>
            <a:ext cx="5067300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1076325" y="2171700"/>
            <a:ext cx="45529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Workflow Bottleneck Analysis: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Comprehensive domain analysis on existing portal processing delays and redundant manual entry steps.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95325" y="2076450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695325" y="2748855"/>
            <a:ext cx="5067300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1076325" y="2844105"/>
            <a:ext cx="45529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Performance Benchmarking: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Query optimization tests proving 4x faster response times under high database load conditions.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695325" y="2748855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95325" y="3421260"/>
            <a:ext cx="5067300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1114425" y="3516510"/>
            <a:ext cx="45148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Usability Verification: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Tested responsive interface layout with target non-technical users, ensuring zero learning curve.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95325" y="3421260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10337" y="133350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/>
          <p:nvPr/>
        </p:nvSpPr>
        <p:spPr>
          <a:xfrm>
            <a:off x="6429375" y="2076450"/>
            <a:ext cx="5067300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6810375" y="2171700"/>
            <a:ext cx="45529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OWASP Top 10 Guidelines: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Implementation of web application security best practices against common vulnerabilities.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6429375" y="2076450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6429375" y="2748855"/>
            <a:ext cx="5067300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6848475" y="2844105"/>
            <a:ext cx="451485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W3C &amp; Web Standards: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Semantic HTML5 design guidelines, CSS Flexbox/Grid standards, and WCAG accessibility compliance.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6429375" y="2748855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429375" y="3421260"/>
            <a:ext cx="5067300" cy="577155"/>
          </a:xfrm>
          <a:prstGeom prst="roundRect">
            <a:avLst>
              <a:gd name="adj" fmla="val 13202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6791325" y="3516510"/>
            <a:ext cx="4572000" cy="38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PHP &amp; MySQL Manuals: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PDO driver documentation, database connection pooling, and parameterized query execution standards.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6429375" y="3421260"/>
            <a:ext cx="28575" cy="57715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7250" y="2190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7250" y="28631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7250" y="353556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91300" y="2190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91300" y="286315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91300" y="353556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Oval 40" descr="Your startup LOGO">
            <a:extLst>
              <a:ext uri="{FF2B5EF4-FFF2-40B4-BE49-F238E27FC236}">
                <a16:creationId xmlns=""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87819" y="127686"/>
            <a:ext cx="1138862" cy="6235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Divine</a:t>
            </a:r>
            <a:endParaRPr lang="en-IN" dirty="0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-1148" y="6332984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3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19546" y="640556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649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Inter Medium</vt:lpstr>
      <vt:lpstr>Inter</vt:lpstr>
      <vt:lpstr>Garamond</vt:lpstr>
      <vt:lpstr>Poppins</vt:lpstr>
      <vt:lpstr>Calibri</vt:lpstr>
      <vt:lpstr>Inter SemiBold</vt:lpstr>
      <vt:lpstr>Times New Roman</vt:lpstr>
      <vt:lpstr>Arial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omi pal</dc:creator>
  <cp:lastModifiedBy>Microsoft account</cp:lastModifiedBy>
  <cp:revision>4</cp:revision>
  <dcterms:modified xsi:type="dcterms:W3CDTF">2026-08-23T04:36:22Z</dcterms:modified>
</cp:coreProperties>
</file>